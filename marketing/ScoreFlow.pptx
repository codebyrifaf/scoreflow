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line: restaurants find out their food was bad from a public review, days later. We move that moment to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clickable in Slide Show mode. Use it if someone asks to skip ahead — jump straight to 'Which dish'.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moment the money is lost is silent. Nobody complains — they just don't come back, and they warn everyone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statistics here on purpose — we don't invent numbers. These three facts are self-evident to any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here. This is the pivot of the whole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seconds is the whole trick. Ask for more and guests don't 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NFC came first on this product; QR was added so there's nothing to buy. Both work — same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minutes is the window to send over a dessert and turn it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sells it. Slow down. An alert says something is wrong; this says what to fix on Monday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ask 'will this work with my POS?' — yes, it's a generic endpoint with a per-restaurant key. See docs/POS_INTEGRATION.md.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one thing a competitor can't copy without changing their own product. Worth labouring if they've been sold review-gating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printer is the only equipment. If they already have NFC chips, those work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QR is real and resolves to the signup page — let them scan it off the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9.xml"/><Relationship Id="rId6" Type="http://schemas.openxmlformats.org/officeDocument/2006/relationships/slide" Target="slide11.xml"/><Relationship Id="rId7" Type="http://schemas.openxmlformats.org/officeDocument/2006/relationships/slide" Target="slide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Relationship Id="rId4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4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Relationship Id="rId4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Relationship Id="rId4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Relationship Id="rId4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Relationship Id="rId4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Relationship Id="rId4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coreflow-six.vercel.app/signup" TargetMode="Externa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9E0B"/>
                </a:solidFill>
                <a:latin typeface="Segoe UI"/>
              </a:rPr>
              <a:t>SCOREFLOW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423160"/>
            <a:ext cx="100584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8686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Hear it at the table.</a:t>
            </a:r>
          </a:p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Not on Google.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B0B0B6"/>
                </a:solidFill>
                <a:latin typeface="Segoe UI"/>
              </a:rPr>
              <a:t>Guests rate their meal in ten seconds. If someone's unhappy, you know before they've left the building — and you know which dish.</a:t>
            </a:r>
          </a:p>
        </p:txBody>
      </p:sp>
      <p:pic>
        <p:nvPicPr>
          <p:cNvPr id="6" name="Picture 5" descr="slide-5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1371600"/>
            <a:ext cx="2194560" cy="2743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AEB2"/>
                </a:solidFill>
                <a:latin typeface="Segoe U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D1D1F"/>
                </a:solidFill>
                <a:latin typeface="Segoe UI"/>
              </a:rPr>
              <a:t>Five minutes.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E6E73"/>
                </a:solidFill>
                <a:latin typeface="Segoe UI"/>
              </a:rPr>
              <a:t>Click any card to jump straight there.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822960" y="2743200"/>
            <a:ext cx="1965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999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401568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D1D1F"/>
                </a:solidFill>
                <a:latin typeface="Segoe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069080"/>
            <a:ext cx="1508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E6E73"/>
                </a:solidFill>
                <a:latin typeface="Segoe UI"/>
              </a:rPr>
              <a:t>A guest leaves unhappy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E6E73"/>
                </a:solidFill>
                <a:latin typeface="Segoe UI"/>
              </a:rPr>
              <a:t>and says nothing.</a:t>
            </a:r>
          </a:p>
        </p:txBody>
      </p:sp>
      <p:sp>
        <p:nvSpPr>
          <p:cNvPr id="9" name="Rounded Rectangle 8">
            <a:hlinkClick action="ppaction://hlinksldjump" r:id="rId4"/>
          </p:cNvPr>
          <p:cNvSpPr/>
          <p:nvPr/>
        </p:nvSpPr>
        <p:spPr>
          <a:xfrm>
            <a:off x="3044952" y="2743200"/>
            <a:ext cx="1965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0984" y="2999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3401568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D1D1F"/>
                </a:solidFill>
                <a:latin typeface="Segoe UI"/>
              </a:rP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984" y="4069080"/>
            <a:ext cx="1508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E6E73"/>
                </a:solidFill>
                <a:latin typeface="Segoe UI"/>
              </a:rPr>
              <a:t>A card on the table.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E6E73"/>
                </a:solidFill>
                <a:latin typeface="Segoe UI"/>
              </a:rPr>
              <a:t>Ten seconds, no app.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5266944" y="2743200"/>
            <a:ext cx="1965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2976" y="2999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2976" y="3401568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D1D1F"/>
                </a:solidFill>
                <a:latin typeface="Segoe UI"/>
              </a:rPr>
              <a:t>Which dish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4069080"/>
            <a:ext cx="1508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E6E73"/>
                </a:solidFill>
                <a:latin typeface="Segoe UI"/>
              </a:rPr>
              <a:t>The part nobody else does.</a:t>
            </a:r>
          </a:p>
        </p:txBody>
      </p:sp>
      <p:sp>
        <p:nvSpPr>
          <p:cNvPr id="17" name="Rounded Rectangle 16">
            <a:hlinkClick action="ppaction://hlinksldjump" r:id="rId6"/>
          </p:cNvPr>
          <p:cNvSpPr/>
          <p:nvPr/>
        </p:nvSpPr>
        <p:spPr>
          <a:xfrm>
            <a:off x="7488936" y="2743200"/>
            <a:ext cx="1965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4968" y="2999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3401568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D1D1F"/>
                </a:solidFill>
                <a:latin typeface="Segoe UI"/>
              </a:rPr>
              <a:t>Why trust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4069080"/>
            <a:ext cx="1508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E6E73"/>
                </a:solidFill>
                <a:latin typeface="Segoe UI"/>
              </a:rPr>
              <a:t>Every guest gets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E6E73"/>
                </a:solidFill>
                <a:latin typeface="Segoe UI"/>
              </a:rPr>
              <a:t>the review link.</a:t>
            </a:r>
          </a:p>
        </p:txBody>
      </p:sp>
      <p:sp>
        <p:nvSpPr>
          <p:cNvPr id="21" name="Rounded Rectangle 20">
            <a:hlinkClick action="ppaction://hlinksldjump" r:id="rId7"/>
          </p:cNvPr>
          <p:cNvSpPr/>
          <p:nvPr/>
        </p:nvSpPr>
        <p:spPr>
          <a:xfrm>
            <a:off x="9710928" y="2743200"/>
            <a:ext cx="1965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2999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401568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D1D1F"/>
                </a:solidFill>
                <a:latin typeface="Segoe UI"/>
              </a:rPr>
              <a:t>Price &amp;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4069080"/>
            <a:ext cx="1508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E6E73"/>
                </a:solidFill>
                <a:latin typeface="Segoe UI"/>
              </a:rPr>
              <a:t>Live tonight.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E6E73"/>
                </a:solidFill>
                <a:latin typeface="Segoe UI"/>
              </a:rPr>
              <a:t>Nothing to buy.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4"/>
          </p:cNvPr>
          <p:cNvSpPr/>
          <p:nvPr/>
        </p:nvSpPr>
        <p:spPr>
          <a:xfrm>
            <a:off x="10500055" y="5029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E8E93"/>
                </a:solidFill>
                <a:latin typeface="Segoe UI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5836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 guest hated the burger.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They didn't tell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60350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B0B0B6"/>
                </a:solidFill>
                <a:latin typeface="Segoe UI"/>
              </a:rPr>
              <a:t>They told Google. Four days later. In public — where every person deciding where to eat tonight can read it.</a:t>
            </a:r>
          </a:p>
        </p:txBody>
      </p:sp>
      <p:pic>
        <p:nvPicPr>
          <p:cNvPr id="6" name="Picture 5" descr="review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194560"/>
            <a:ext cx="4389120" cy="1260465"/>
          </a:xfrm>
          <a:prstGeom prst="rect">
            <a:avLst/>
          </a:prstGeom>
        </p:spPr>
      </p:pic>
    </p:spTree>
  </p:cSld>
  <p:clrMapOvr>
    <a:masterClrMapping/>
  </p:clrMapOvr>
  <p:transition spd="med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3"/>
          </p:cNvPr>
          <p:cNvSpPr/>
          <p:nvPr/>
        </p:nvSpPr>
        <p:spPr>
          <a:xfrm>
            <a:off x="10500055" y="5029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D1D1F"/>
                </a:solidFill>
                <a:latin typeface="Segoe UI"/>
              </a:rPr>
              <a:t>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AEB2"/>
                </a:solidFill>
                <a:latin typeface="Segoe UI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D1D1F"/>
                </a:solidFill>
                <a:latin typeface="Segoe UI"/>
              </a:rPr>
              <a:t>A bad review isn't one bad night.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51760"/>
            <a:ext cx="64008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D1D1F"/>
                </a:solidFill>
                <a:latin typeface="Segoe UI"/>
              </a:rPr>
              <a:t>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E6E73"/>
                </a:solidFill>
                <a:latin typeface="Segoe UI"/>
              </a:rPr>
              <a:t>Anyone choosing a restaurant tonight sees it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651760"/>
            <a:ext cx="64008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971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D1D1F"/>
                </a:solidFill>
                <a:latin typeface="Segoe UI"/>
              </a:rPr>
              <a:t>Permanent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61188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E6E73"/>
                </a:solidFill>
                <a:latin typeface="Segoe UI"/>
              </a:rPr>
              <a:t>It outlives the shift, the chef, and the recipe.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651760"/>
            <a:ext cx="64008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971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D1D1F"/>
                </a:solidFill>
                <a:latin typeface="Segoe UI"/>
              </a:rPr>
              <a:t>Unanswerable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61188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E6E73"/>
                </a:solidFill>
                <a:latin typeface="Segoe UI"/>
              </a:rPr>
              <a:t>By the time you read it, they're long gone.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3"/>
          </p:cNvPr>
          <p:cNvSpPr/>
          <p:nvPr/>
        </p:nvSpPr>
        <p:spPr>
          <a:xfrm>
            <a:off x="10500055" y="5029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D1D1F"/>
                </a:solidFill>
                <a:latin typeface="Segoe UI"/>
              </a:rPr>
              <a:t>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AEB2"/>
                </a:solidFill>
                <a:latin typeface="Segoe U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1D1D1F"/>
                </a:solidFill>
                <a:latin typeface="Segoe UI"/>
              </a:rPr>
              <a:t>What if you knew</a:t>
            </a:r>
          </a:p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1D1D1F"/>
                </a:solidFill>
                <a:latin typeface="Segoe UI"/>
              </a:rPr>
              <a:t>in 30 seconds?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6E6E73"/>
                </a:solidFill>
                <a:latin typeface="Segoe UI"/>
              </a:rPr>
              <a:t>A problem you hear about at the table is a free dessert.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6E6E73"/>
                </a:solidFill>
                <a:latin typeface="Segoe UI"/>
              </a:rPr>
              <a:t>The same problem on Google is a one-star, forever.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4"/>
          </p:cNvPr>
          <p:cNvSpPr/>
          <p:nvPr/>
        </p:nvSpPr>
        <p:spPr>
          <a:xfrm>
            <a:off x="10500055" y="5029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D1D1F"/>
                </a:solidFill>
                <a:latin typeface="Segoe UI"/>
              </a:rPr>
              <a:t>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AEB2"/>
                </a:solidFill>
                <a:latin typeface="Segoe UI"/>
              </a:rPr>
              <a:t>02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D1D1F"/>
                </a:solidFill>
                <a:latin typeface="Segoe UI"/>
              </a:rPr>
              <a:t>A card on the 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6E6E73"/>
                </a:solidFill>
                <a:latin typeface="Segoe UI"/>
              </a:rPr>
              <a:t>They scan it and rate the meal out of ten. No app to download, nothing to sign up for, no typing.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383280"/>
            <a:ext cx="384048" cy="38404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3429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D1D1F"/>
                </a:solidFill>
                <a:latin typeface="Segoe UI"/>
              </a:rPr>
              <a:t>You print the cards — we generate them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4041648"/>
            <a:ext cx="384048" cy="38404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40873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D1D1F"/>
                </a:solidFill>
                <a:latin typeface="Segoe UI"/>
              </a:rPr>
              <a:t>One goes on each table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700016"/>
            <a:ext cx="384048" cy="384048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474573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D1D1F"/>
                </a:solidFill>
                <a:latin typeface="Segoe UI"/>
              </a:rPr>
              <a:t>That's it. You're live tonight.</a:t>
            </a:r>
          </a:p>
        </p:txBody>
      </p:sp>
      <p:pic>
        <p:nvPicPr>
          <p:cNvPr id="12" name="Picture 11" descr="table-card-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4754880" cy="2770405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4"/>
          </p:cNvPr>
          <p:cNvSpPr/>
          <p:nvPr/>
        </p:nvSpPr>
        <p:spPr>
          <a:xfrm>
            <a:off x="10500055" y="5029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D1D1F"/>
                </a:solidFill>
                <a:latin typeface="Segoe UI"/>
              </a:rPr>
              <a:t>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AEB2"/>
                </a:solidFill>
                <a:latin typeface="Segoe UI"/>
              </a:rPr>
              <a:t>02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D1D1F"/>
                </a:solidFill>
                <a:latin typeface="Segoe UI"/>
              </a:rPr>
              <a:t>No camera? Tap instead.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6766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6E6E73"/>
                </a:solidFill>
                <a:latin typeface="Segoe UI"/>
              </a:rPr>
              <a:t>Load the same link onto a reusable NFC chip and guests just tap their phone to the table. Buy the chips once — they last years.</a:t>
            </a:r>
          </a:p>
        </p:txBody>
      </p:sp>
      <p:pic>
        <p:nvPicPr>
          <p:cNvPr id="6" name="Picture 5" descr="nfc-p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749039"/>
            <a:ext cx="6400800" cy="935501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4"/>
          </p:cNvPr>
          <p:cNvSpPr/>
          <p:nvPr/>
        </p:nvSpPr>
        <p:spPr>
          <a:xfrm>
            <a:off x="10500055" y="5029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D1D1F"/>
                </a:solidFill>
                <a:latin typeface="Segoe UI"/>
              </a:rPr>
              <a:t>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AEB2"/>
                </a:solidFill>
                <a:latin typeface="Segoe UI"/>
              </a:rPr>
              <a:t>02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58521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D1D1F"/>
                </a:solidFill>
                <a:latin typeface="Segoe UI"/>
              </a:rPr>
              <a:t>Your phone buzzes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D1D1F"/>
                </a:solidFill>
                <a:latin typeface="Segoe UI"/>
              </a:rPr>
              <a:t>before they've paid.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6E6E73"/>
                </a:solidFill>
                <a:latin typeface="Segoe UI"/>
              </a:rPr>
              <a:t>A poor score reaches you with the table number, the order and what went wrong — while they're still sitting there.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59E0B"/>
                </a:solidFill>
                <a:latin typeface="Segoe UI"/>
              </a:rPr>
              <a:t>You have about four minutes.</a:t>
            </a:r>
          </a:p>
        </p:txBody>
      </p:sp>
      <p:pic>
        <p:nvPicPr>
          <p:cNvPr id="7" name="Picture 6" descr="alert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03120"/>
            <a:ext cx="4754880" cy="1633728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7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4"/>
          </p:cNvPr>
          <p:cNvSpPr/>
          <p:nvPr/>
        </p:nvSpPr>
        <p:spPr>
          <a:xfrm>
            <a:off x="10500055" y="5029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E8E93"/>
                </a:solidFill>
                <a:latin typeface="Segoe UI"/>
              </a:rPr>
              <a:t>03 · THE PART NOBODY ELSE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It tells you which dish.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B0B0B6"/>
                </a:solidFill>
                <a:latin typeface="Segoe UI"/>
              </a:rPr>
              <a:t>Your till says what was on the order, so a poor score is tied to the food it was actually about. Guests are asked nothing extra.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1">
                <a:solidFill>
                  <a:srgbClr val="F59E0B"/>
                </a:solidFill>
                <a:latin typeface="Segoe UI"/>
              </a:rPr>
              <a:t>“Someone was unhappy” is a worry.</a:t>
            </a:r>
          </a:p>
          <a:p>
            <a:pPr algn="l">
              <a:lnSpc>
                <a:spcPct val="135000"/>
              </a:lnSpc>
            </a:pPr>
            <a:r>
              <a:rPr sz="1900" b="0" i="1">
                <a:solidFill>
                  <a:srgbClr val="F59E0B"/>
                </a:solidFill>
                <a:latin typeface="Segoe UI"/>
              </a:rPr>
              <a:t>“The chicken burger is dry” is a job.</a:t>
            </a:r>
          </a:p>
        </p:txBody>
      </p:sp>
      <p:pic>
        <p:nvPicPr>
          <p:cNvPr id="7" name="Picture 6" descr="by-d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03120"/>
            <a:ext cx="4846320" cy="2410733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3"/>
          </p:cNvPr>
          <p:cNvSpPr/>
          <p:nvPr/>
        </p:nvSpPr>
        <p:spPr>
          <a:xfrm>
            <a:off x="10500055" y="5029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D1D1F"/>
                </a:solidFill>
                <a:latin typeface="Segoe UI"/>
              </a:rPr>
              <a:t>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AEB2"/>
                </a:solidFill>
                <a:latin typeface="Segoe UI"/>
              </a:rPr>
              <a:t>03 · WHICH DISH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D1D1F"/>
                </a:solidFill>
                <a:latin typeface="Segoe UI"/>
              </a:rPr>
              <a:t>It works because your till already knows.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3200400" cy="192024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9260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1D1F"/>
                </a:solidFill>
                <a:latin typeface="Segoe UI"/>
              </a:rPr>
              <a:t>Your till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7472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E6E73"/>
                </a:solidFill>
                <a:latin typeface="Segoe UI"/>
              </a:rPr>
              <a:t>sends the order —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E6E73"/>
                </a:solidFill>
                <a:latin typeface="Segoe UI"/>
              </a:rPr>
              <a:t>table 4, chicken burger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78224" y="34290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AEAEB2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2651760"/>
            <a:ext cx="3200400" cy="192024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9260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1D1F"/>
                </a:solidFill>
                <a:latin typeface="Segoe UI"/>
              </a:rPr>
              <a:t>The guest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347472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E6E73"/>
                </a:solidFill>
                <a:latin typeface="Segoe UI"/>
              </a:rPr>
              <a:t>rates the meal 3/10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E6E73"/>
                </a:solidFill>
                <a:latin typeface="Segoe UI"/>
              </a:rPr>
              <a:t>and taps “dry”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34290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AEAEB2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2651760"/>
            <a:ext cx="3200400" cy="192024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29260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ScoreFlow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347472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0B0B6"/>
                </a:solidFill>
                <a:latin typeface="Segoe UI"/>
              </a:rPr>
              <a:t>matches the two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0B0B6"/>
                </a:solidFill>
                <a:latin typeface="Segoe UI"/>
              </a:rPr>
              <a:t>and names the dish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E6E73"/>
                </a:solidFill>
                <a:latin typeface="Segoe UI"/>
              </a:rPr>
              <a:t>One-off setup by whoever supports your till. We publish the integration guide — no vendor approval needed.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4"/>
          </p:cNvPr>
          <p:cNvSpPr/>
          <p:nvPr/>
        </p:nvSpPr>
        <p:spPr>
          <a:xfrm>
            <a:off x="10500055" y="5029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D1D1F"/>
                </a:solidFill>
                <a:latin typeface="Segoe UI"/>
              </a:rPr>
              <a:t>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AEB2"/>
                </a:solidFill>
                <a:latin typeface="Segoe UI"/>
              </a:rPr>
              <a:t>04 · WHY YOU CAN TRUST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8229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D1D1F"/>
                </a:solidFill>
                <a:latin typeface="Segoe UI"/>
              </a:rPr>
              <a:t>Every guest gets the review link.</a:t>
            </a:r>
          </a:p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D1D1F"/>
                </a:solidFill>
                <a:latin typeface="Segoe UI"/>
              </a:rPr>
              <a:t>Even the unhappy one.</a:t>
            </a:r>
          </a:p>
        </p:txBody>
      </p:sp>
      <p:pic>
        <p:nvPicPr>
          <p:cNvPr id="5" name="Picture 4" descr="plat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00400"/>
            <a:ext cx="4572000" cy="422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114800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6E6E73"/>
                </a:solidFill>
                <a:latin typeface="Segoe UI"/>
              </a:rPr>
              <a:t>Tools that hide the review link from unhappy guests break Google's rules and UK review law. We never hide it — that's the product, not a compromise.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377440"/>
            <a:ext cx="40233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0">
                <a:solidFill>
                  <a:srgbClr val="1D1D1F"/>
                </a:solidFill>
                <a:latin typeface="Segoe UI"/>
              </a:rPr>
              <a:t>If a competitor filters your bad
reviews, the risk is yours —
not theirs.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4"/>
          </p:cNvPr>
          <p:cNvSpPr/>
          <p:nvPr/>
        </p:nvSpPr>
        <p:spPr>
          <a:xfrm>
            <a:off x="10500055" y="50292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D1D1F"/>
                </a:solidFill>
                <a:latin typeface="Segoe UI"/>
              </a:rPr>
              <a:t>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AEB2"/>
                </a:solidFill>
                <a:latin typeface="Segoe UI"/>
              </a:rPr>
              <a:t>05 · PRICE &amp;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D1D1F"/>
                </a:solidFill>
                <a:latin typeface="Segoe UI"/>
              </a:rPr>
              <a:t>Live tonight. Nothing to buy.</a:t>
            </a:r>
          </a:p>
        </p:txBody>
      </p:sp>
      <p:pic>
        <p:nvPicPr>
          <p:cNvPr id="5" name="Picture 4" descr="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5669280" cy="15118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06640" y="2286000"/>
            <a:ext cx="3931920" cy="2926080"/>
          </a:xfrm>
          <a:prstGeom prst="roundRect">
            <a:avLst>
              <a:gd name="adj" fmla="val 6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60604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£29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611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0B0B6"/>
                </a:solidFill>
                <a:latin typeface="Segoe UI"/>
              </a:rPr>
              <a:t>per location, per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069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59E0B"/>
                </a:solidFill>
                <a:latin typeface="Segoe UI"/>
              </a:rPr>
              <a:t>14 days free · no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E8E93"/>
                </a:solidFill>
                <a:latin typeface="Segoe UI"/>
              </a:rPr>
              <a:t>Cancel whenever. Prices exclude VAT.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69494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The next unhappy guest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tells you, not Google.</a:t>
            </a:r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822960" y="4480560"/>
            <a:ext cx="3108960" cy="6858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D1D1F"/>
                </a:solidFill>
                <a:latin typeface="Segoe UI"/>
              </a:rPr>
              <a:t>Start 14 days free</a:t>
            </a:r>
          </a:p>
        </p:txBody>
      </p:sp>
      <p:pic>
        <p:nvPicPr>
          <p:cNvPr id="4" name="Picture 3" descr="qr-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286000"/>
            <a:ext cx="192024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4389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E93"/>
                </a:solidFill>
                <a:latin typeface="Segoe UI"/>
              </a:rPr>
              <a:t>Scan it — this code is live.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